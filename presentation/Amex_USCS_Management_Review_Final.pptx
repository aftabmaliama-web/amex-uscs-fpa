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6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e295d2b9104332" /><Relationship Type="http://schemas.openxmlformats.org/officeDocument/2006/relationships/extended-properties" Target="/docProps/app.xml" Id="Rcb2a27b268084380" /><Relationship Type="http://schemas.openxmlformats.org/officeDocument/2006/relationships/officeDocument" Target="/ppt/presentation.xml" Id="Rf22d6327e69a4c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5d4f0e9884e26"/>
  </p:sldMasterIdLst>
  <p:notesMasterIdLst>
    <p:notesMasterId xmlns:r="http://schemas.openxmlformats.org/officeDocument/2006/relationships" r:id="Re27e478b6a484561"/>
  </p:notesMasterIdLst>
  <p:sldIdLst>
    <p:sldId xmlns:r="http://schemas.openxmlformats.org/officeDocument/2006/relationships" id="256" r:id="R39ee289867b54dfe"/>
    <p:sldId xmlns:r="http://schemas.openxmlformats.org/officeDocument/2006/relationships" id="257" r:id="Ra675ad96eda84ffd"/>
    <p:sldId xmlns:r="http://schemas.openxmlformats.org/officeDocument/2006/relationships" id="258" r:id="Re2b028ce86144a1a"/>
    <p:sldId xmlns:r="http://schemas.openxmlformats.org/officeDocument/2006/relationships" id="259" r:id="R878a0916da8d4994"/>
    <p:sldId xmlns:r="http://schemas.openxmlformats.org/officeDocument/2006/relationships" id="260" r:id="Raad380855bdf4fef"/>
    <p:sldId xmlns:r="http://schemas.openxmlformats.org/officeDocument/2006/relationships" id="261" r:id="Rf0aa8d231c384bc1"/>
    <p:sldId xmlns:r="http://schemas.openxmlformats.org/officeDocument/2006/relationships" id="262" r:id="Rf31620def9e94572"/>
    <p:sldId xmlns:r="http://schemas.openxmlformats.org/officeDocument/2006/relationships" id="263" r:id="R51ce3a49f0fd4a5b"/>
    <p:sldId xmlns:r="http://schemas.openxmlformats.org/officeDocument/2006/relationships" id="264" r:id="R1663947d3ff94dd0"/>
    <p:sldId xmlns:r="http://schemas.openxmlformats.org/officeDocument/2006/relationships" id="265" r:id="Rbfcb5dcec0f843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a2e9497eba4741" /><Relationship Type="http://schemas.openxmlformats.org/officeDocument/2006/relationships/slideMaster" Target="/ppt/slideMasters/slideMaster1.xml" Id="Rc295d4f0e9884e26" /><Relationship Type="http://schemas.openxmlformats.org/officeDocument/2006/relationships/notesMaster" Target="/ppt/notesMasters/notesMaster1.xml" Id="Re27e478b6a484561" /><Relationship Type="http://schemas.openxmlformats.org/officeDocument/2006/relationships/presProps" Target="/ppt/presProps.xml" Id="Re85c008279764593" /><Relationship Type="http://schemas.openxmlformats.org/officeDocument/2006/relationships/tableStyles" Target="/ppt/tableStyles.xml" Id="R2f15d584d3894c2f" /><Relationship Type="http://schemas.openxmlformats.org/officeDocument/2006/relationships/slide" Target="/ppt/slides/slide1.xml" Id="R39ee289867b54dfe" /><Relationship Type="http://schemas.openxmlformats.org/officeDocument/2006/relationships/slide" Target="/ppt/slides/slide2.xml" Id="Ra675ad96eda84ffd" /><Relationship Type="http://schemas.openxmlformats.org/officeDocument/2006/relationships/slide" Target="/ppt/slides/slide3.xml" Id="Re2b028ce86144a1a" /><Relationship Type="http://schemas.openxmlformats.org/officeDocument/2006/relationships/slide" Target="/ppt/slides/slide4.xml" Id="R878a0916da8d4994" /><Relationship Type="http://schemas.openxmlformats.org/officeDocument/2006/relationships/slide" Target="/ppt/slides/slide5.xml" Id="Raad380855bdf4fef" /><Relationship Type="http://schemas.openxmlformats.org/officeDocument/2006/relationships/slide" Target="/ppt/slides/slide6.xml" Id="Rf0aa8d231c384bc1" /><Relationship Type="http://schemas.openxmlformats.org/officeDocument/2006/relationships/slide" Target="/ppt/slides/slide7.xml" Id="Rf31620def9e94572" /><Relationship Type="http://schemas.openxmlformats.org/officeDocument/2006/relationships/slide" Target="/ppt/slides/slide8.xml" Id="R51ce3a49f0fd4a5b" /><Relationship Type="http://schemas.openxmlformats.org/officeDocument/2006/relationships/slide" Target="/ppt/slides/slide9.xml" Id="R1663947d3ff94dd0" /><Relationship Type="http://schemas.openxmlformats.org/officeDocument/2006/relationships/slide" Target="/ppt/slides/slide10.xml" Id="Rbfcb5dcec0f843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31f81fdd0a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2bca5c3f34aca" /><Relationship Type="http://schemas.openxmlformats.org/officeDocument/2006/relationships/notesMaster" Target="/ppt/notesMasters/notesMaster1.xml" Id="R7fe5b3d68120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a657b2c604465d" /><Relationship Type="http://schemas.openxmlformats.org/officeDocument/2006/relationships/notesMaster" Target="/ppt/notesMasters/notesMaster1.xml" Id="Rc5b5948699924b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0c4fb34e9548c1" /><Relationship Type="http://schemas.openxmlformats.org/officeDocument/2006/relationships/notesMaster" Target="/ppt/notesMasters/notesMaster1.xml" Id="Rf0522bf0b71b48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497b2e524d4553" /><Relationship Type="http://schemas.openxmlformats.org/officeDocument/2006/relationships/notesMaster" Target="/ppt/notesMasters/notesMaster1.xml" Id="R1b5e537d5b4d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0b94107aa740cd" /><Relationship Type="http://schemas.openxmlformats.org/officeDocument/2006/relationships/notesMaster" Target="/ppt/notesMasters/notesMaster1.xml" Id="R9f271bdbffe74e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9993e7cbfc4db9" /><Relationship Type="http://schemas.openxmlformats.org/officeDocument/2006/relationships/notesMaster" Target="/ppt/notesMasters/notesMaster1.xml" Id="Rffbb8d1c1ff643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c03c65e1d34ae5" /><Relationship Type="http://schemas.openxmlformats.org/officeDocument/2006/relationships/notesMaster" Target="/ppt/notesMasters/notesMaster1.xml" Id="R602c2c3fe6a249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8077c3aafb4bdd" /><Relationship Type="http://schemas.openxmlformats.org/officeDocument/2006/relationships/notesMaster" Target="/ppt/notesMasters/notesMaster1.xml" Id="R516501e6446b4f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4862e85744ba1" /><Relationship Type="http://schemas.openxmlformats.org/officeDocument/2006/relationships/notesMaster" Target="/ppt/notesMasters/notesMaster1.xml" Id="Rcae65be9a27445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f31a89c6a64246" /><Relationship Type="http://schemas.openxmlformats.org/officeDocument/2006/relationships/notesMaster" Target="/ppt/notesMasters/notesMaster1.xml" Id="Rb17b78fbe966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American Express 2025 10-K https://d18rn0p25nwr6d.cloudfront.net/CIK-0000004962/0adef908-f8b7-4f66-b1cf-7d92a2b68ccb.pdf</a:t>
            </a:r>
          </a:p>
          <a:p xmlns:a="http://schemas.openxmlformats.org/drawingml/2006/main">
            <a:r>
              <a:t>Q2 2026 Earnings Tables https://s26.q4cdn.com/747928648/files/doc_earnings/2026/q2/supplemental-info/Q2-2026-Earnings-Tables.pdf</a:t>
            </a:r>
          </a:p>
          <a:p xmlns:a="http://schemas.openxmlformats.org/drawingml/2006/main">
            <a:r>
              <a:t>AOP values and recommendations are model outputs. They are not American Express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American Express 2025 10-K, USCS Table 8. https://d18rn0p25nwr6d.cloudfront.net/CIK-0000004962/0adef908-f8b7-4f66-b1cf-7d92a2b68ccb.pdf</a:t>
            </a:r>
          </a:p>
          <a:p xmlns:a="http://schemas.openxmlformats.org/drawingml/2006/main">
            <a:r>
              <a:t>AOP and variance attribution are model outputs based on assumptions available at January 24,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Q4 2025 Earnings Tables https://s26.q4cdn.com/747928648/files/doc_earnings/2025/q4/supplemental-info/Q4-2025-Earnings-Tables.pdf</a:t>
            </a:r>
          </a:p>
          <a:p xmlns:a="http://schemas.openxmlformats.org/drawingml/2006/main">
            <a:r>
              <a:t>Q2 2026 Earnings Tables https://s26.q4cdn.com/747928648/files/doc_earnings/2026/q2/supplemental-info/Q2-2026-Earnings-Tables.pdf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total USCS marketing: American Express 2025 10-K https://d18rn0p25nwr6d.cloudfront.net/CIK-0000004962/0adef908-f8b7-4f66-b1cf-7d92a2b68ccb.pdf</a:t>
            </a:r>
          </a:p>
          <a:p xmlns:a="http://schemas.openxmlformats.org/drawingml/2006/main">
            <a:r>
              <a:t>Channel allocation, CAC, contribution and payback are model assumptions and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Q4 2025 Earnings Tables https://s26.q4cdn.com/747928648/files/doc_earnings/2025/q4/supplemental-info/Q4-2025-Earnings-Tables.pdf</a:t>
            </a:r>
          </a:p>
          <a:p xmlns:a="http://schemas.openxmlformats.org/drawingml/2006/main">
            <a:r>
              <a:t>Q1 2026 Earnings Tables https://s26.q4cdn.com/747928648/files/doc_earnings/2026/q1/supplemental-info/Q1-2026-Earnings-Tables.pdf</a:t>
            </a:r>
          </a:p>
          <a:p xmlns:a="http://schemas.openxmlformats.org/drawingml/2006/main">
            <a:r>
              <a:t>Q2 2026 Earnings Tables https://s26.q4cdn.com/747928648/files/doc_earnings/2026/q2/supplemental-info/Q2-2026-Earnings-Tables.pdf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Q4 2025 Earnings Tables https://s26.q4cdn.com/747928648/files/doc_earnings/2025/q4/supplemental-info/Q4-2025-Earnings-Tables.pdf</a:t>
            </a:r>
          </a:p>
          <a:p xmlns:a="http://schemas.openxmlformats.org/drawingml/2006/main">
            <a:r>
              <a:t>Q1 2026 Earnings Tables https://s26.q4cdn.com/747928648/files/doc_earnings/2026/q1/supplemental-info/Q1-2026-Earnings-Tables.pdf</a:t>
            </a:r>
          </a:p>
          <a:p xmlns:a="http://schemas.openxmlformats.org/drawingml/2006/main">
            <a:r>
              <a:t>Q2 2026 Earnings Tables https://s26.q4cdn.com/747928648/files/doc_earnings/2026/q2/supplemental-info/Q2-2026-Earnings-Tables.pdf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public expense bucket: American Express 2025 10-K https://d18rn0p25nwr6d.cloudfront.net/CIK-0000004962/0adef908-f8b7-4f66-b1cf-7d92a2b68ccb.pdf</a:t>
            </a:r>
          </a:p>
          <a:p xmlns:a="http://schemas.openxmlformats.org/drawingml/2006/main">
            <a:r>
              <a:t>Headcount, job-family mix, compensation and cost-center allocation are SYNTHETIC_ASSUMPTION / SYNTHETIC_ALLOCATED.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for Q1/Q2 actuals: https://s26.q4cdn.com/747928648/files/doc_earnings/2026/q1/supplemental-info/Q1-2026-Earnings-Tables.pdf and https://s26.q4cdn.com/747928648/files/doc_earnings/2026/q2/supplemental-info/Q2-2026-Earnings-Tables.pdf</a:t>
            </a:r>
          </a:p>
          <a:p xmlns:a="http://schemas.openxmlformats.org/drawingml/2006/main">
            <a:r>
              <a:t>2025 forecast vintages and 2026 Q3/Q4 forecasts are MODEL_OUTPUT.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 and R&amp;O values are SYNTHETIC_ASSUMPTION / MODEL_OUTPUT. Public actual anchors come from official American Express materials listed in the project lineage.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are analyst conclusions from this model. They do not represent American Express management 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6c0b963614e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8f00d01447477d" /><Relationship Type="http://schemas.openxmlformats.org/officeDocument/2006/relationships/slideLayout" Target="/ppt/slideLayouts/slideLayout1.xml" Id="R711aa3697b4c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aa3697b4c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bde4a1e194ceb" /><Relationship Type="http://schemas.openxmlformats.org/officeDocument/2006/relationships/notesSlide" Target="/ppt/notesSlides/notesSlide1.xml" Id="Rf351b4732cdf45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35bf54c5045c1" /><Relationship Type="http://schemas.openxmlformats.org/officeDocument/2006/relationships/chart" Target="/ppt/slides/charts/chart1.xml" Id="Rfcddc3bfdda4482f" /><Relationship Type="http://schemas.openxmlformats.org/officeDocument/2006/relationships/notesSlide" Target="/ppt/notesSlides/notesSlide2.xml" Id="R1ad6bc5b064345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7e64fbf4a4c1d" /><Relationship Type="http://schemas.openxmlformats.org/officeDocument/2006/relationships/chart" Target="/ppt/slides/charts/chart2.xml" Id="R683388a93637434f" /><Relationship Type="http://schemas.openxmlformats.org/officeDocument/2006/relationships/notesSlide" Target="/ppt/notesSlides/notesSlide3.xml" Id="R303071ea013149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b733310494115" /><Relationship Type="http://schemas.openxmlformats.org/officeDocument/2006/relationships/chart" Target="/ppt/slides/charts/chart3.xml" Id="Rf2f6a3c45b7f4467" /><Relationship Type="http://schemas.openxmlformats.org/officeDocument/2006/relationships/notesSlide" Target="/ppt/notesSlides/notesSlide4.xml" Id="Rdecfedc3056741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84a8d5dc4d85" /><Relationship Type="http://schemas.openxmlformats.org/officeDocument/2006/relationships/chart" Target="/ppt/slides/charts/chart4.xml" Id="Rffcd9fff7662427d" /><Relationship Type="http://schemas.openxmlformats.org/officeDocument/2006/relationships/notesSlide" Target="/ppt/notesSlides/notesSlide5.xml" Id="Rec0c1e3e158244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b8e41788e434a" /><Relationship Type="http://schemas.openxmlformats.org/officeDocument/2006/relationships/chart" Target="/ppt/slides/charts/chart5.xml" Id="R45534d32401e42a3" /><Relationship Type="http://schemas.openxmlformats.org/officeDocument/2006/relationships/notesSlide" Target="/ppt/notesSlides/notesSlide6.xml" Id="Rba6aa5070e914f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8bdf22869418a" /><Relationship Type="http://schemas.openxmlformats.org/officeDocument/2006/relationships/chart" Target="/ppt/slides/charts/chart6.xml" Id="R2a5ce1b5a5724a5d" /><Relationship Type="http://schemas.openxmlformats.org/officeDocument/2006/relationships/notesSlide" Target="/ppt/notesSlides/notesSlide7.xml" Id="R7d7dfdae6efa4e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f61356efc45c7" /><Relationship Type="http://schemas.openxmlformats.org/officeDocument/2006/relationships/chart" Target="/ppt/slides/charts/chart7.xml" Id="R19ca2424060b480a" /><Relationship Type="http://schemas.openxmlformats.org/officeDocument/2006/relationships/notesSlide" Target="/ppt/notesSlides/notesSlide8.xml" Id="Rf862cc625c95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348c93dce485a" /><Relationship Type="http://schemas.openxmlformats.org/officeDocument/2006/relationships/chart" Target="/ppt/slides/charts/chart8.xml" Id="R98c4404f9b50482a" /><Relationship Type="http://schemas.openxmlformats.org/officeDocument/2006/relationships/notesSlide" Target="/ppt/notesSlides/notesSlide9.xml" Id="R14d0893483d94c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0dd8e590d4bf6" /><Relationship Type="http://schemas.openxmlformats.org/officeDocument/2006/relationships/notesSlide" Target="/ppt/notesSlides/notesSlide10.xml" Id="Rc2b6e0646db84ca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Pretax bridge drivers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PTI impact</c:v>
          </c:tx>
          <c:spPr>
            <a:solidFill xmlns:a="http://schemas.openxmlformats.org/drawingml/2006/main">
              <a:srgbClr val="006FCF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07C4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Revenue</c:v>
                </c:pt>
                <c:pt idx="1">
                  <c:v>Credit</c:v>
                </c:pt>
                <c:pt idx="2">
                  <c:v>Rewards</c:v>
                </c:pt>
                <c:pt idx="3">
                  <c:v>Marketing</c:v>
                </c:pt>
                <c:pt idx="4">
                  <c:v>Other OpEx</c:v>
                </c:pt>
                <c:pt idx="5">
                  <c:v>Net PTI</c:v>
                </c:pt>
              </c:strCache>
            </c:strRef>
          </c:cat>
          <c:val>
            <c:numRef>
              <c:f>'Chart Data'!$B$2:$B$7</c:f>
              <c:numCache>
                <c:formatCode>$#,##0M</c:formatCode>
                <c:ptCount val="6"/>
                <c:pt idx="0">
                  <c:v>345</c:v>
                </c:pt>
                <c:pt idx="1">
                  <c:v>133</c:v>
                </c:pt>
                <c:pt idx="2">
                  <c:v>-580</c:v>
                </c:pt>
                <c:pt idx="3">
                  <c:v>-7</c:v>
                </c:pt>
                <c:pt idx="4">
                  <c:v>-281</c:v>
                </c:pt>
                <c:pt idx="5">
                  <c:v>-390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0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$#,##0M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Quarterly billed business ($B)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Billed business ($B)</c:v>
          </c:tx>
          <c:spPr>
            <a:solidFill xmlns:a="http://schemas.openxmlformats.org/drawingml/2006/main">
              <a:srgbClr val="006FCF"/>
            </a:solidFill>
          </c:spPr>
          <c:cat>
            <c:strRef>
              <c:f>'Chart Data'!$A$2:$A$7</c:f>
              <c:strCache>
                <c:ptCount val="6"/>
                <c:pt idx="0">
                  <c:v>2025Q1</c:v>
                </c:pt>
                <c:pt idx="1">
                  <c:v>2025Q2</c:v>
                </c:pt>
                <c:pt idx="2">
                  <c:v>2025Q3</c:v>
                </c:pt>
                <c:pt idx="3">
                  <c:v>2025Q4</c:v>
                </c:pt>
                <c:pt idx="4">
                  <c:v>2026Q1</c:v>
                </c:pt>
                <c:pt idx="5">
                  <c:v>2026Q2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164.3</c:v>
                </c:pt>
                <c:pt idx="1">
                  <c:v>176.5</c:v>
                </c:pt>
                <c:pt idx="2">
                  <c:v>177.5</c:v>
                </c:pt>
                <c:pt idx="3">
                  <c:v>189.2</c:v>
                </c:pt>
                <c:pt idx="4">
                  <c:v>180.2</c:v>
                </c:pt>
                <c:pt idx="5">
                  <c:v>196.4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14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First-year contribution per marketing dollar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Contribution / $</c:v>
          </c:tx>
          <c:spPr>
            <a:solidFill xmlns:a="http://schemas.openxmlformats.org/drawingml/2006/main">
              <a:srgbClr val="006FCF"/>
            </a:solidFill>
          </c:spPr>
          <c:cat>
            <c:strRef>
              <c:f>'Chart Data'!$A$2:$A$5</c:f>
              <c:strCache>
                <c:ptCount val="4"/>
                <c:pt idx="0">
                  <c:v>Direct Mail</c:v>
                </c:pt>
                <c:pt idx="1">
                  <c:v>Paid Search</c:v>
                </c:pt>
                <c:pt idx="2">
                  <c:v>Affiliate / Partner</c:v>
                </c:pt>
                <c:pt idx="3">
                  <c:v>Digital / Paid Media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1.48</c:v>
                </c:pt>
                <c:pt idx="1">
                  <c:v>1.64</c:v>
                </c:pt>
                <c:pt idx="2">
                  <c:v>1.53</c:v>
                </c:pt>
                <c:pt idx="3">
                  <c:v>1.56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Customer engagement expense / billed business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Cost rate</c:v>
          </c:tx>
          <c:spPr>
            <a:ln xmlns:a="http://schemas.openxmlformats.org/drawingml/2006/main" w="28575">
              <a:solidFill>
                <a:srgbClr val="006FCF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006FCF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2025Q1</c:v>
                </c:pt>
                <c:pt idx="1">
                  <c:v>2025Q2</c:v>
                </c:pt>
                <c:pt idx="2">
                  <c:v>2025Q3</c:v>
                </c:pt>
                <c:pt idx="3">
                  <c:v>2025Q4</c:v>
                </c:pt>
                <c:pt idx="4">
                  <c:v>2026Q1</c:v>
                </c:pt>
                <c:pt idx="5">
                  <c:v>2026Q2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2.363</c:v>
                </c:pt>
                <c:pt idx="1">
                  <c:v>2.248</c:v>
                </c:pt>
                <c:pt idx="2">
                  <c:v>2.335</c:v>
                </c:pt>
                <c:pt idx="3">
                  <c:v>2.412</c:v>
                </c:pt>
                <c:pt idx="4">
                  <c:v>2.555</c:v>
                </c:pt>
                <c:pt idx="5">
                  <c:v>2.416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2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Net write-off and delinquency rates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ser>
          <c:idx val="0"/>
          <c:order val="0"/>
          <c:tx>
            <c:v>Net write-off rate</c:v>
          </c:tx>
          <c:spPr>
            <a:ln xmlns:a="http://schemas.openxmlformats.org/drawingml/2006/main" w="28575">
              <a:solidFill>
                <a:srgbClr val="C00000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00000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2025Q1</c:v>
                </c:pt>
                <c:pt idx="1">
                  <c:v>2025Q2</c:v>
                </c:pt>
                <c:pt idx="2">
                  <c:v>2025Q3</c:v>
                </c:pt>
                <c:pt idx="3">
                  <c:v>2025Q4</c:v>
                </c:pt>
                <c:pt idx="4">
                  <c:v>2026Q1</c:v>
                </c:pt>
                <c:pt idx="5">
                  <c:v>2026Q2</c:v>
                </c:pt>
              </c:strCache>
            </c:strRef>
          </c:cat>
          <c:val>
            <c:numRef>
              <c:f>'Chart Data'!$B$2:$B$7</c:f>
              <c:numCache>
                <c:formatCode>0.0%</c:formatCode>
                <c:ptCount val="6"/>
                <c:pt idx="0">
                  <c:v>0.027</c:v>
                </c:pt>
                <c:pt idx="1">
                  <c:v>0.024</c:v>
                </c:pt>
                <c:pt idx="2">
                  <c:v>0.023</c:v>
                </c:pt>
                <c:pt idx="3">
                  <c:v>0.026</c:v>
                </c:pt>
                <c:pt idx="4">
                  <c:v>0.024</c:v>
                </c:pt>
                <c:pt idx="5">
                  <c:v>0.023</c:v>
                </c:pt>
              </c:numCache>
            </c:numRef>
          </c:val>
        </c:ser>
        <c:ser>
          <c:idx val="1"/>
          <c:order val="1"/>
          <c:tx>
            <c:v>30+ days past due</c:v>
          </c:tx>
          <c:spPr>
            <a:ln xmlns:a="http://schemas.openxmlformats.org/drawingml/2006/main" w="28575">
              <a:solidFill>
                <a:srgbClr val="006FCF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006FCF"/>
              </a:solidFill>
            </c:spPr>
          </c:marker>
          <c:cat>
            <c:strRef>
              <c:f>'Chart Data'!$C$2:$C$7</c:f>
              <c:strCache>
                <c:ptCount val="6"/>
                <c:pt idx="0">
                  <c:v>2025Q1</c:v>
                </c:pt>
                <c:pt idx="1">
                  <c:v>2025Q2</c:v>
                </c:pt>
                <c:pt idx="2">
                  <c:v>2025Q3</c:v>
                </c:pt>
                <c:pt idx="3">
                  <c:v>2025Q4</c:v>
                </c:pt>
                <c:pt idx="4">
                  <c:v>2026Q1</c:v>
                </c:pt>
                <c:pt idx="5">
                  <c:v>2026Q2</c:v>
                </c:pt>
              </c:strCache>
            </c:strRef>
          </c:cat>
          <c:val>
            <c:numRef>
              <c:f>'Chart Data'!$D$2:$D$7</c:f>
              <c:numCache>
                <c:formatCode>0.0%</c:formatCode>
                <c:ptCount val="6"/>
                <c:pt idx="0">
                  <c:v>0.013</c:v>
                </c:pt>
                <c:pt idx="1">
                  <c:v>0.012</c:v>
                </c:pt>
                <c:pt idx="2">
                  <c:v>0.013</c:v>
                </c:pt>
                <c:pt idx="3">
                  <c:v>0.013</c:v>
                </c:pt>
                <c:pt idx="4">
                  <c:v>0.013</c:v>
                </c:pt>
                <c:pt idx="5">
                  <c:v>0.011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0.03"/>
          <c:min val="0.005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7203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Illustrative ending headcount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ser>
          <c:idx val="0"/>
          <c:order val="0"/>
          <c:tx>
            <c:v>Headcount</c:v>
          </c:tx>
          <c:spPr>
            <a:ln xmlns:a="http://schemas.openxmlformats.org/drawingml/2006/main" w="28575">
              <a:solidFill>
                <a:srgbClr val="006FCF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6FCF"/>
              </a:solidFill>
            </c:spPr>
          </c:marker>
          <c:cat>
            <c:strRef>
              <c:f>'Chart Data'!$A$2:$A$13</c:f>
              <c:strCache>
                <c:ptCount val="12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</c:strCache>
            </c:strRef>
          </c:cat>
          <c:val>
            <c:numRef>
              <c:f>'Chart Data'!$B$2:$B$13</c:f>
              <c:numCache>
                <c:formatCode>#,##0</c:formatCode>
                <c:ptCount val="12"/>
                <c:pt idx="0">
                  <c:v>9080</c:v>
                </c:pt>
                <c:pt idx="1">
                  <c:v>9096</c:v>
                </c:pt>
                <c:pt idx="2">
                  <c:v>9115</c:v>
                </c:pt>
                <c:pt idx="3">
                  <c:v>9137</c:v>
                </c:pt>
                <c:pt idx="4">
                  <c:v>9152</c:v>
                </c:pt>
                <c:pt idx="5">
                  <c:v>9155</c:v>
                </c:pt>
                <c:pt idx="6">
                  <c:v>9160</c:v>
                </c:pt>
                <c:pt idx="7">
                  <c:v>9159</c:v>
                </c:pt>
                <c:pt idx="8">
                  <c:v>9151</c:v>
                </c:pt>
                <c:pt idx="9">
                  <c:v>9136</c:v>
                </c:pt>
                <c:pt idx="10">
                  <c:v>9109</c:v>
                </c:pt>
                <c:pt idx="11">
                  <c:v>9070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9350"/>
          <c:min val="900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FY2025 pretax income by forecast vintage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ser>
          <c:idx val="0"/>
          <c:order val="0"/>
          <c:tx>
            <c:v>Pretax income</c:v>
          </c:tx>
          <c:spPr>
            <a:ln xmlns:a="http://schemas.openxmlformats.org/drawingml/2006/main" w="28575">
              <a:solidFill>
                <a:srgbClr val="006FCF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006FCF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2025 AOP</c:v>
                </c:pt>
                <c:pt idx="1">
                  <c:v>Q1 2025 LE</c:v>
                </c:pt>
                <c:pt idx="2">
                  <c:v>Q2 2025 LE</c:v>
                </c:pt>
                <c:pt idx="3">
                  <c:v>Q3 2025 LE</c:v>
                </c:pt>
                <c:pt idx="4">
                  <c:v>FY2025 Actual</c:v>
                </c:pt>
              </c:strCache>
            </c:strRef>
          </c:cat>
          <c:val>
            <c:numRef>
              <c:f>'Chart Data'!$B$2:$B$6</c:f>
              <c:numCache>
                <c:formatCode>$#,##0M</c:formatCode>
                <c:ptCount val="5"/>
                <c:pt idx="0">
                  <c:v>7199.9</c:v>
                </c:pt>
                <c:pt idx="1">
                  <c:v>7150</c:v>
                </c:pt>
                <c:pt idx="2">
                  <c:v>7100</c:v>
                </c:pt>
                <c:pt idx="3">
                  <c:v>6900</c:v>
                </c:pt>
                <c:pt idx="4">
                  <c:v>6810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7300"/>
          <c:min val="6500"/>
        </c:scaling>
        <c:delete val="0"/>
        <c:axPos val="l"/>
        <c:numFmt formatCode="$#,##0M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Base-case PTI impact by selected scenario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PTI impact</c:v>
          </c:tx>
          <c:spPr>
            <a:solidFill xmlns:a="http://schemas.openxmlformats.org/drawingml/2006/main">
              <a:srgbClr val="006FC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07C41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07C41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Spend slowdown</c:v>
                </c:pt>
                <c:pt idx="1">
                  <c:v>Credit stress</c:v>
                </c:pt>
                <c:pt idx="2">
                  <c:v>Rewards inflation</c:v>
                </c:pt>
                <c:pt idx="3">
                  <c:v>OpEx productivity</c:v>
                </c:pt>
                <c:pt idx="4">
                  <c:v>Automation</c:v>
                </c:pt>
              </c:strCache>
            </c:strRef>
          </c:cat>
          <c:val>
            <c:numRef>
              <c:f>'Chart Data'!$B$2:$B$6</c:f>
              <c:numCache>
                <c:formatCode>$#,##0M</c:formatCode>
                <c:ptCount val="5"/>
                <c:pt idx="0">
                  <c:v>-830</c:v>
                </c:pt>
                <c:pt idx="1">
                  <c:v>-650</c:v>
                </c:pt>
                <c:pt idx="2">
                  <c:v>-360</c:v>
                </c:pt>
                <c:pt idx="3">
                  <c:v>330</c:v>
                </c:pt>
                <c:pt idx="4">
                  <c:v>350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$#,##0M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489C2-59F9-4EEA-8171-1031F8C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6E151-A27F-4DBB-A4FC-4BA9DB69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FY2025 backtest and Q2 2026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FF7E0-4E59-401F-8DF9-7F23C7A0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4D6FA-3361-4806-8E93-E12BFA1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104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r>
                        <a:t>FY2025 revenue vs AOP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FY2025 PTI vs AOP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FY2026 Q2 LE 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FY2026 Q2 LE PTI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7C41"/>
                          </a:solidFill>
                        </a:rPr>
                        <a:t>+$345M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C00000"/>
                          </a:solidFill>
                        </a:rPr>
                        <a:t>($390M)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/>
                        <a:t>$38.4B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/>
                        <a:t>$7.9B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81489-A78C-49A4-B594-C0C47C8D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C466E-2AC6-4001-A6D6-1CAC92F2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495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Revenue beat plan, but rewards and allocated operating expense drove a pretax miss.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Credit performed better than planned and partly masked controllable cost pressure.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H1 2026 revenue and pretax income grew 11% and 12% year over year, respectively.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E1FD6-B27A-47F0-8916-FB8E806C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6D174-34F1-4BC0-92F2-2ED1990E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95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Direct incremental acquisition spend to channels that clear contribution and payback hurdles.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Delay benefit expansion until engagement supports the higher rewards and service cost.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Pause lower-priority hiring while maintaining servicing and technology capacity.</a:t>
            </a:r>
          </a:p>
        </p:txBody>
      </p:sp>
    </p:spTree>
    <p:extLst>
      <p:ext uri="{BB962C8B-B14F-4D97-AF65-F5344CB8AC3E}">
        <p14:creationId xmlns:p14="http://schemas.microsoft.com/office/powerpoint/2010/main" val="580023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F69EB-3BA9-49F2-8D8D-AEC7CC7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USCS P&amp;L vs AOP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F4AA7-12A1-44A4-80B8-24E529E6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USD millions. Positive revenue and PTI variance are favorable. Expense increases are unfavorable.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506F4-067B-4468-8D2A-442A3D31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38F60-DD71-4EC0-BB24-D5F16832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5857875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143000"/>
                <a:gridCol w="1143000"/>
                <a:gridCol w="1238250"/>
              </a:tblGrid>
              <a:tr h="496661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Total 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34469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34814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Provision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2967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-133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Rewards &amp; services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15977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16557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580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Salaries &amp; other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5293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281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Pretax income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6810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-390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0" y="1666875"/>
          <a:ext xmlns:a="http://schemas.openxmlformats.org/drawingml/2006/main" cx="4572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ddc3bfdda4482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50D3C-B6E8-4A50-8B40-2DB0E746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Rewards and operating expense more than offset revenue and credit favorability.</a:t>
            </a:r>
          </a:p>
        </p:txBody>
      </p:sp>
    </p:spTree>
    <p:extLst>
      <p:ext uri="{BB962C8B-B14F-4D97-AF65-F5344CB8AC3E}">
        <p14:creationId xmlns:p14="http://schemas.microsoft.com/office/powerpoint/2010/main" val="824065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605D7-349E-4637-B042-F341EB1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Revenue, Billed Business &amp; Mix Drivers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1997B-DC66-424D-A216-40A4C6C7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Public quarterly USCS billed business through Q2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DFC3F-F54D-4AA4-A544-A65B311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D0559-1D4E-43F2-ACD9-9ADD212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953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3388a93637434f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953375" y="1666875"/>
          <a:ext xmlns:a="http://schemas.openxmlformats.org/drawingml/2006/main" cx="34766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571625"/>
              </a:tblGrid>
              <a:tr h="508000">
                <a:tc>
                  <a:txBody>
                    <a:bodyPr/>
                    <a:lstStyle/>
                    <a:p>
                      <a:r>
                        <a:t>Driver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Management read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H1 2026 billed business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+11% YoY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Cards in force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49.2M at Q2 2026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Spend per basic card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+5% H1 YoY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2025 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+11% YoY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Mix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Premium fee + T&amp;E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53C5B-0DC2-45EA-A23C-361F639D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Maintain premium engagement. Add acquisition capacity only if spend per account remains on plan.</a:t>
            </a:r>
          </a:p>
        </p:txBody>
      </p:sp>
    </p:spTree>
    <p:extLst>
      <p:ext uri="{BB962C8B-B14F-4D97-AF65-F5344CB8AC3E}">
        <p14:creationId xmlns:p14="http://schemas.microsoft.com/office/powerpoint/2010/main" val="16433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58C29-AC07-4C23-BF37-06B7B8F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Customer Acquisition &amp; Marketing Efficiency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C17B1-5B4C-4370-A0EA-908CCBB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Illustrative channel economics. Channel spend is synthetic and does not represent reported American Express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E2E88-3B35-49B2-97E8-C3684C7C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E2D83-0BCC-4095-93B1-0B69D2D0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43000"/>
                <a:gridCol w="1047750"/>
                <a:gridCol w="1238250"/>
                <a:gridCol w="1143000"/>
              </a:tblGrid>
              <a:tr h="628650">
                <a:tc>
                  <a:txBody>
                    <a:bodyPr/>
                    <a:lstStyle/>
                    <a:p>
                      <a:r>
                        <a:t>Channel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Spend ($M)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CAC ($)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Contribution / $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Payback (mo.)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Direct Mail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8.1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Paid 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7.3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Affiliate / Partner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7.8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Digital / Paid Media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524750" y="1666875"/>
          <a:ext xmlns:a="http://schemas.openxmlformats.org/drawingml/2006/main" cx="3905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f6a3c45b7f446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DCD67-9FBE-4FE0-8209-D19E61A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55CA8-C009-4C05-A955-AAFBEAD4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29200"/>
            <a:ext cx="881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Reallocate incremental budget toward Paid Search and Digital while keeping Affiliate / Partner funding tied to higher expected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190697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943BE-1180-4375-8648-F8C69BB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Rewards &amp; Membership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1C973-3271-40C3-B972-3384EED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Public rewards, business development and Card Member services divided by billed business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244D0-AD94-429F-AE23-287D012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298C6-EFAD-46AA-B343-D9F391A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cd9fff7662427d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8191500" y="1714500"/>
          <a:ext xmlns:a="http://schemas.openxmlformats.org/drawingml/2006/main" cx="3238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619250"/>
              </a:tblGrid>
              <a:tr h="51435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Management threshold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Benefit inflation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 engagement lift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Partner offsets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Track separately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Redemption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 quarterly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New benefits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Stage against activation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0659D-ABBA-45E7-8208-B667891D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816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The cost rate rose in Q1 2026 and eased in Q2. The forecast retains the higher run rate and tracks partner funding separately.</a:t>
            </a:r>
          </a:p>
        </p:txBody>
      </p:sp>
    </p:spTree>
    <p:extLst>
      <p:ext uri="{BB962C8B-B14F-4D97-AF65-F5344CB8AC3E}">
        <p14:creationId xmlns:p14="http://schemas.microsoft.com/office/powerpoint/2010/main" val="1369497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EEF55-BD5F-415B-9E95-BD70D295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Lending &amp; Credit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494C4-82B5-42D0-9846-A988DB8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H1 2026 credit metrics improved. The forecast retains a normalization allowance.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BA4C3-7851-4FC0-BB28-B8B2AD43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CCF6A-E5DC-4C8A-A58E-81F56683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858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534d32401e42a3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858125" y="1666875"/>
          <a:ext xmlns:a="http://schemas.openxmlformats.org/drawingml/2006/main" cx="357187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238250"/>
                <a:gridCol w="1238250"/>
              </a:tblGrid>
              <a:tr h="476250">
                <a:tc>
                  <a:txBody>
                    <a:bodyPr/>
                    <a:lstStyle/>
                    <a:p>
                      <a:r>
                        <a:t>Period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Provision ($M)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Card balances ($B)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2025Q1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102.9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2025Q2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105.8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2025Q3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107.0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2025Q4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114.4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2026Q1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110.8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2026Q2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113.8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F8A00-F1A7-4A0D-AFBC-CD4F8A19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Q2 provision fell 40% year over year. A return toward 2025 loss rates would reduce the current provision benefit.</a:t>
            </a:r>
          </a:p>
        </p:txBody>
      </p:sp>
    </p:spTree>
    <p:extLst>
      <p:ext uri="{BB962C8B-B14F-4D97-AF65-F5344CB8AC3E}">
        <p14:creationId xmlns:p14="http://schemas.microsoft.com/office/powerpoint/2010/main" val="26957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9E8F0-E77B-47AC-903D-88238341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Headcount &amp; OpEx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D734C-5366-41B8-8148-3CFED1A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Illustrative workforce schedule tied to the published USCS operating expense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8C585-FAB9-4280-9C08-81CCAF80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08E08-63CE-4648-B6E3-903D883D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5ce1b5a5724a5d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667625" y="1714500"/>
          <a:ext xmlns:a="http://schemas.openxmlformats.org/drawingml/2006/main" cx="3762375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428750"/>
              </a:tblGrid>
              <a:tr h="552450">
                <a:tc>
                  <a:txBody>
                    <a:bodyPr/>
                    <a:lstStyle/>
                    <a:p>
                      <a:r>
                        <a:t>Planning 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FY2025 model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Opening headcount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9,050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Ending headcount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9070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Personnel expense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$1866M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Non-personnel OpEx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$3427M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A5218-EF3E-4C7C-86C4-A1F0DDD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Pause lower-priority hiring and reduce vendor spend first. Maintain staffing for servicing, controls and technology.</a:t>
            </a:r>
          </a:p>
        </p:txBody>
      </p:sp>
    </p:spTree>
    <p:extLst>
      <p:ext uri="{BB962C8B-B14F-4D97-AF65-F5344CB8AC3E}">
        <p14:creationId xmlns:p14="http://schemas.microsoft.com/office/powerpoint/2010/main" val="31379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36575-09DF-4DEE-B8A5-134EFEAD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Rolling Forecast &amp; Latest Estimate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6D6F-1384-4A83-88F3-A897005E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Each vintage preserves the assumptions known at that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D6033-89A2-4ED2-99EC-CEBBCD7B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849A0-458B-400B-AFBB-67C944A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8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ca2424060b480a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667625" y="1666875"/>
          <a:ext xmlns:a="http://schemas.openxmlformats.org/drawingml/2006/main" cx="376237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000125"/>
                <a:gridCol w="1000125"/>
              </a:tblGrid>
              <a:tr h="609600">
                <a:tc>
                  <a:txBody>
                    <a:bodyPr/>
                    <a:lstStyle/>
                    <a:p>
                      <a:r>
                        <a:t>FY2026 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 LE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38295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38370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Provision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2569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Total expenses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27350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27907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Pretax income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7845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7894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3DBA4-3468-4CAA-B026-4BF4B020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The Q2 latest estimate is $49M above AOP. A $531M provision benefit and $163M marketing timing benefit offset higher rewards and operating expense.</a:t>
            </a:r>
          </a:p>
        </p:txBody>
      </p:sp>
    </p:spTree>
    <p:extLst>
      <p:ext uri="{BB962C8B-B14F-4D97-AF65-F5344CB8AC3E}">
        <p14:creationId xmlns:p14="http://schemas.microsoft.com/office/powerpoint/2010/main" val="1190559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35890-5D7B-4D50-A051-D2979B3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Scenarios, Risks &amp; Opportunities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ACE4A-76A7-40DF-AD28-9EA0BE0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Scenario impacts are not automatically booked into the latest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956C-6544-409E-AD48-219D4B0C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615EE-73D3-48AF-A487-470E936E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c4404f9b50482a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810500" y="1619250"/>
          <a:ext xmlns:a="http://schemas.openxmlformats.org/drawingml/2006/main" cx="3619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1809750"/>
                <a:gridCol w="1143000"/>
              </a:tblGrid>
              <a:tr h="530679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Expected impact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R01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-350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R02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Rewards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-250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R03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Credit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-280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O01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Credit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O02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O03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Productivity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540A8-18F4-445E-A9B1-19CC372D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Review billed business, rewards cost and credit indicators each month. Add R&amp;O items to the forecast only after the evidence threshold is met.</a:t>
            </a:r>
          </a:p>
        </p:txBody>
      </p:sp>
    </p:spTree>
    <p:extLst>
      <p:ext uri="{BB962C8B-B14F-4D97-AF65-F5344CB8AC3E}">
        <p14:creationId xmlns:p14="http://schemas.microsoft.com/office/powerpoint/2010/main" val="1610539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BB154-A6D8-4AF6-86DF-42D55762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Management Recommendations &amp;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D17DF-E6AE-4A85-A5D2-3C91300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Actions linked to measurable triggers and owners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0F08D-8F8B-4990-94EF-8D1991DE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7A08D-44D5-4763-A0D2-73D33DB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5B667A"/>
                </a:solidFill>
                <a:latin typeface="Calibri"/>
                <a:ea typeface="Calibri"/>
                <a:cs typeface="Calibri"/>
              </a:rPr>
              <a:t>American Express USCS FP&amp;A     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1714500"/>
                <a:gridCol w="1619250"/>
                <a:gridCol w="2000250"/>
              </a:tblGrid>
              <a:tr h="557893"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Recommended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Timing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Trigger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Acquisition budget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Shift spend to channels &gt;1.4x first-year contribution / marketing $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Marketing Finance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CAC and payback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Benefits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Stage benefits. Require partner offsets or measured engagement lift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Membership Finance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Monthly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Rewards/services rate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Hiring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Pause lower-priority roles. Protect service and technology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Business FP&amp;A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Q3-Q4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Vacancy + service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Credit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Hold downside overlay outside forecast until loss indicators 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Credit Finance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Quarterly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NCO + delinquency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Automation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Fund by milestone. Release savings after sustained adoption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Technology Finance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2026-2027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Adoption + savings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Forecast governance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Separate booked forecast from R&amp;O. Refresh evidence each close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USCS Finance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 close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 threshold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2CE78-1B0B-4EB4-A238-8D75B4BC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175A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00175A"/>
                </a:solidFill>
                <a:latin typeface="Calibri"/>
                <a:ea typeface="Calibri"/>
                <a:cs typeface="Calibri"/>
              </a:rPr>
              <a:t>Fund growth only where returns clear the hurdle. Retain the higher rewards cost rate and the credit downside allowance in the forecast.</a:t>
            </a:r>
          </a:p>
        </p:txBody>
      </p:sp>
    </p:spTree>
    <p:extLst>
      <p:ext uri="{BB962C8B-B14F-4D97-AF65-F5344CB8AC3E}">
        <p14:creationId xmlns:p14="http://schemas.microsoft.com/office/powerpoint/2010/main" val="801017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2026-09-18T20:52:54.4600000Z</dcterms:created>
  <dcterms:modified xsi:type="dcterms:W3CDTF">2026-09-18T20:52:54.4600000Z</dcterms:modified>
</coreProperties>
</file>